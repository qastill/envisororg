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5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50" cy="109728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2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0"/>
            <a:ext cx="38100" cy="6858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8BE86"/>
                </a:solidFill>
                <a:latin typeface="Calibri"/>
              </a:rPr>
              <a:t>INNOVATION GATEWAY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241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9C6D4"/>
                </a:solidFill>
                <a:latin typeface="Calibri"/>
              </a:rPr>
              <a:t>Kategori:  Next-Gen  ·  BUSINESS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7406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ENVISOR</a:t>
            </a:r>
          </a:p>
          <a:p>
            <a:pPr algn="l"/>
            <a:r>
              <a:rPr sz="1800" b="1" i="0">
                <a:solidFill>
                  <a:srgbClr val="D8BE86"/>
                </a:solidFill>
                <a:latin typeface="Calibri"/>
              </a:rPr>
              <a:t>Ekosistem Layanan Efisiensi Energi Pelanggan — "Beyond kWh"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D3DCE5"/>
                </a:solidFill>
                <a:latin typeface="Calibri"/>
              </a:rPr>
              <a:t>Dari audit energi mandiri berbasis AI hingga konsultasi efisiensi industri — PLN membuka pendapatan Beyond kWh sekaligus mengakselerasi efisiensi energi nasional.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572000"/>
            <a:ext cx="91440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29A4E"/>
                </a:solidFill>
                <a:latin typeface="Calibri"/>
              </a:rPr>
              <a:t>Tim Inovator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Qashtalani Haramaini  ·  Dino Arla  ·  Sidik</a:t>
            </a:r>
          </a:p>
          <a:p>
            <a:pPr algn="l"/>
            <a:r>
              <a:rPr sz="1100" b="0" i="0">
                <a:solidFill>
                  <a:srgbClr val="B9C6D4"/>
                </a:solidFill>
                <a:latin typeface="Calibri"/>
              </a:rPr>
              <a:t>PT PLN (Persero)        |        Juni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01168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C29A4E"/>
                </a:solidFill>
                <a:latin typeface="Calibri"/>
              </a:rPr>
              <a:t>EMPAT LAYANAN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01  Envisor OCR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A9B8C8"/>
                </a:solidFill>
                <a:latin typeface="Calibri"/>
              </a:rPr>
              <a:t>Audit mandiri via AI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02  Audit Energi Rumah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A9B8C8"/>
                </a:solidFill>
                <a:latin typeface="Calibri"/>
              </a:rPr>
              <a:t>Perangkat di panel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03  Envisor Industries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A9B8C8"/>
                </a:solidFill>
                <a:latin typeface="Calibri"/>
              </a:rPr>
              <a:t>Konsultasi efisiensi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04  Envisor Advisor</a:t>
            </a:r>
          </a:p>
          <a:p>
            <a:pPr algn="l"/>
            <a:r>
              <a:rPr sz="950" b="0" i="0">
                <a:solidFill>
                  <a:srgbClr val="A9B8C8"/>
                </a:solidFill>
                <a:latin typeface="Calibri"/>
              </a:rPr>
              <a:t>Expert bersertifikat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F9EAE"/>
                </a:solidFill>
                <a:latin typeface="Calibri"/>
              </a:rPr>
              <a:t>Catatan: AI digunakan sebatas alat bantu penyusunan. Seluruh ide, data, perhitungan &amp; validasi merupakan hasil kerja asli peserta.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PETA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Struktur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56677"/>
                </a:solidFill>
                <a:latin typeface="Calibri"/>
              </a:rPr>
              <a:t>Disusun mengikuti 6 bagian utama — selaras dengan alur evaluasi panel.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2 /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1874519"/>
            <a:ext cx="11018520" cy="676656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" y="1874519"/>
            <a:ext cx="676656" cy="67665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874519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29A4E"/>
                </a:solidFill>
                <a:latin typeface="Calibr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874519"/>
            <a:ext cx="4846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742"/>
                </a:solidFill>
                <a:latin typeface="Calibri"/>
              </a:rPr>
              <a:t>PROBLEM &amp;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1280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Slide 4–6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874519"/>
            <a:ext cx="3886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Problem Statement · Strategic Alignment · Why Now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2619755"/>
            <a:ext cx="11018520" cy="676656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2619755"/>
            <a:ext cx="676656" cy="67665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619755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29A4E"/>
                </a:solidFill>
                <a:latin typeface="Calibr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619755"/>
            <a:ext cx="4846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742"/>
                </a:solidFill>
                <a:latin typeface="Calibri"/>
              </a:rP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19755"/>
            <a:ext cx="1280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Slide 7–9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19755"/>
            <a:ext cx="3886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Proposed Solution · How It Works · Customer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3364991"/>
            <a:ext cx="11018520" cy="676656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" y="3364991"/>
            <a:ext cx="676656" cy="67665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364991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29A4E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364991"/>
            <a:ext cx="4846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742"/>
                </a:solidFill>
                <a:latin typeface="Calibri"/>
              </a:rPr>
              <a:t>MARKET &amp; COMPETITION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64991"/>
            <a:ext cx="1280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Slide 10–12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364991"/>
            <a:ext cx="3886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Target Market · Market Size (TAM/SAM/SOM) · Competitor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" y="4110227"/>
            <a:ext cx="11018520" cy="676656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6072" y="4110227"/>
            <a:ext cx="676656" cy="67665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110227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29A4E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110227"/>
            <a:ext cx="4846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742"/>
                </a:solidFill>
                <a:latin typeface="Calibri"/>
              </a:rPr>
              <a:t>BUSINESS &amp;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10227"/>
            <a:ext cx="1280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Slide 13–16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110227"/>
            <a:ext cx="3886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Business Model · Go-to-Market · Roadmap · Resources &amp; Ecosystem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" y="4855463"/>
            <a:ext cx="11018520" cy="676656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6072" y="4855463"/>
            <a:ext cx="676656" cy="67665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4855463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29A4E"/>
                </a:solidFill>
                <a:latin typeface="Calibri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855463"/>
            <a:ext cx="4846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742"/>
                </a:solidFill>
                <a:latin typeface="Calibri"/>
              </a:rPr>
              <a:t>VALUE &amp;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855463"/>
            <a:ext cx="1280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Slide 17–19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855463"/>
            <a:ext cx="3886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Financial Projections · Strategic Impact · Risk &amp; Compliance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" y="5600699"/>
            <a:ext cx="11018520" cy="676656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6072" y="5600699"/>
            <a:ext cx="676656" cy="67665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5600699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29A4E"/>
                </a:solidFill>
                <a:latin typeface="Calibri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600699"/>
            <a:ext cx="4846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742"/>
                </a:solidFill>
                <a:latin typeface="Calibri"/>
              </a:rPr>
              <a:t>TEAM &amp; CLOSING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00699"/>
            <a:ext cx="1280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Slide 20–22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600699"/>
            <a:ext cx="38862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Tim Inovasi · Closing / Call to Action ·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RINGKASAN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56677"/>
                </a:solidFill>
                <a:latin typeface="Calibri"/>
              </a:rPr>
              <a:t>Elevator pitch 1-halaman — dibaca pertama oleh juri.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3 /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1874519"/>
            <a:ext cx="11018520" cy="80467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" y="1874519"/>
            <a:ext cx="2743200" cy="804672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874519"/>
            <a:ext cx="457200" cy="804672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874519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8BE86"/>
                </a:solidFill>
                <a:latin typeface="Calibri"/>
              </a:rPr>
              <a:t>PROBLEM /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874519"/>
            <a:ext cx="8503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Pelanggan PLN kehilangan 10–30% biaya listrik akibat pemborosan, faktor daya rendah &amp; denda kVARh — tanpa visibilitas konsumsi. PLN belum memonetisasi layanan efisiensi sisi pelanggan (Beyond kWh).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2734055"/>
            <a:ext cx="11018520" cy="80467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" y="2734055"/>
            <a:ext cx="2743200" cy="804672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2734055"/>
            <a:ext cx="457200" cy="804672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734055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8BE86"/>
                </a:solidFill>
                <a:latin typeface="Calibri"/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734055"/>
            <a:ext cx="8503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Ekosistem Envisor: (1) app AI self-audit OCR, (2) jasa audit berbasis perangkat IoT di panel, (3) konsultasi efisiensi industri, (4) marketplace expert energi bersertifikat — di bawah brand &amp; data PLN.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" y="3593591"/>
            <a:ext cx="11018520" cy="80467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" y="3593591"/>
            <a:ext cx="2743200" cy="804672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3593591"/>
            <a:ext cx="457200" cy="804672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593591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8BE86"/>
                </a:solidFill>
                <a:latin typeface="Calibri"/>
              </a:rPr>
              <a:t>TARGET 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593591"/>
            <a:ext cx="8503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Primer: rumah tangga daya menengah (R-1 1.300 VA – R-3) &amp; UMKM di perkotaan. High-value: pelanggan bisnis/industri (B-3, I-3/I-4) yang terkena denda kVARh &amp; masalah power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" y="4453127"/>
            <a:ext cx="11018520" cy="80467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6072" y="4453127"/>
            <a:ext cx="2743200" cy="804672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1720" y="4453127"/>
            <a:ext cx="457200" cy="804672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453127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8BE86"/>
                </a:solidFill>
                <a:latin typeface="Calibri"/>
              </a:rPr>
              <a:t>BUSINESS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453127"/>
            <a:ext cx="8503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SOM ~Rp 1,8 T (5 thn) dari TAM ~Rp 28 T. Proyeksi revenue kumulatif Rp ~640 M (Y1–Y5), EBITDA positif Y3, Payback ~3,2 thn, IRR ~31% (ilustratif).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5312663"/>
            <a:ext cx="11018520" cy="80467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072" y="5312663"/>
            <a:ext cx="2743200" cy="804672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31720" y="5312663"/>
            <a:ext cx="457200" cy="804672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312663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8BE86"/>
                </a:solidFill>
                <a:latin typeface="Calibri"/>
              </a:rPr>
              <a:t>TRACTION &amp; 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312663"/>
            <a:ext cx="8503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Prototipe app OCR (envisor.vercel.app) &amp; situs ekosistem aktif. Rencana pilot 2 UP3 kota besar di Y1, GTM 3 fase (Validation → Expansion → Scale-Up).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" y="6053328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71616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Angka bersifat ILUSTRATIF berbasis asumsi awal — wajib divalidasi &amp; menjadi hasil kerja peserta sebelum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A  ·  PROBLEM &amp;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Problem / Opportunity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28800"/>
            <a:ext cx="76200" cy="877824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1 · Evidence — Kondisi Pasar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Konsumsi listrik nasional tumbuh ~5%/thn; rumah tangga &amp; bisnis = &gt;60% penjualan PLN. Potensi efisiensi energi 10–30% (IEA/RUEN).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12948" y="2706624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" y="2907792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" y="2907792"/>
            <a:ext cx="76200" cy="877824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07792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2 · Pain Point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Pelanggan tak punya visibilitas konsumsi per-perangkat; industri rugi akibat denda kVARh &amp; power quality; tak ada layanan efisiensi resmi dari PLN.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012948" y="3785616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986784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" y="3986784"/>
            <a:ext cx="76200" cy="87782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3 · Consequence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Persepsi "listrik mahal" &amp; keluhan naik; revenue layanan efisiensi lari ke ESCO swasta; inefisiensi energi menghambat target NZE.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012948" y="4864608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" y="5065776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" y="5065776"/>
            <a:ext cx="76200" cy="877824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65776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4 · Opportunity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PLN sebagai trusted energy partner memonetisasi data + layanan efisiensi → lini pendapatan baru, loyalitas pelanggan, dukungan NZE 2060.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SINYAL PASAR (untuk divalidasi dengan sumber)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121408"/>
            <a:ext cx="5669280" cy="8412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97880" y="2121408"/>
            <a:ext cx="1417320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121408"/>
            <a:ext cx="1417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C29A4E"/>
                </a:solidFill>
                <a:latin typeface="Calibri"/>
              </a:rPr>
              <a:t>10–30%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121408"/>
            <a:ext cx="3977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Potensi penghematan biaya listrik per pelanggan (audit efisiensi)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3072384"/>
            <a:ext cx="5669280" cy="8412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97880" y="3072384"/>
            <a:ext cx="1417320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3072384"/>
            <a:ext cx="1417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C29A4E"/>
                </a:solidFill>
                <a:latin typeface="Calibri"/>
              </a:rPr>
              <a:t>&gt; 80 jt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072384"/>
            <a:ext cx="3977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Basis pelanggan PLN — kanal distribusi layanan siap pakai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4023360"/>
            <a:ext cx="5669280" cy="8412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97880" y="4023360"/>
            <a:ext cx="1417320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4023360"/>
            <a:ext cx="1417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C29A4E"/>
                </a:solidFill>
                <a:latin typeface="Calibri"/>
              </a:rPr>
              <a:t>Rp triliunan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023360"/>
            <a:ext cx="3977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Denda kVARh &amp; losses energi industri yang dapat dieliminasi/thn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4974336"/>
            <a:ext cx="5669280" cy="8412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897880" y="4974336"/>
            <a:ext cx="1417320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4974336"/>
            <a:ext cx="1417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C29A4E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974336"/>
            <a:ext cx="3977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Layanan efisiensi energi sisi-pelanggan yang dimonetisasi PLN saat ini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Pendekatan Evidence → Pain → Consequence → Opportunity. Lengkapi tiap klaim dengan sumber (BPS, IEA, RUPTL, ESDM, data internal PLN).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A  ·  PROBLEM &amp;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Strategic Alignment dengan PLN &amp; Tema IG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5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83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Koneksi 3 Lapis:  Strategi Korporat  →  Pilar  →  Kontribusi Envisor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2148840"/>
            <a:ext cx="2679192" cy="3200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" y="2148840"/>
            <a:ext cx="2679192" cy="86868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2651760"/>
            <a:ext cx="2679192" cy="36576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4028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PLN Transformasi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13639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29A4E"/>
                </a:solidFill>
                <a:latin typeface="Calibri"/>
              </a:rPr>
              <a:t>Pilar Customer Focus &amp; 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3840480"/>
            <a:ext cx="548640" cy="254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977640"/>
            <a:ext cx="2386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Layanan Beyond kWh berbasis data pelanggan; efisiensi sisi-demand mengurangi beban &amp; emisi.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2148840"/>
            <a:ext cx="2679192" cy="3200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74136" y="2148840"/>
            <a:ext cx="2679192" cy="86868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4136" y="2651760"/>
            <a:ext cx="2679192" cy="36576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224028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Tema IG 2026 — Next-Gen Business Dev.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13639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29A4E"/>
                </a:solidFill>
                <a:latin typeface="Calibri"/>
              </a:rPr>
              <a:t>Diversifikasi revenue non-tarif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840480"/>
            <a:ext cx="548640" cy="254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977640"/>
            <a:ext cx="2386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Model ESCO-as-a-Platform: pendapatan jasa, langganan &amp; success-fee di luar penjualan kWh.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148840"/>
            <a:ext cx="2679192" cy="3200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2148840"/>
            <a:ext cx="2679192" cy="86868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651760"/>
            <a:ext cx="2679192" cy="36576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224028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RUPTL &amp; Roadmap NZE 2060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313639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29A4E"/>
                </a:solidFill>
                <a:latin typeface="Calibri"/>
              </a:rPr>
              <a:t>Transisi energi &amp; efisiensi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18504" y="3840480"/>
            <a:ext cx="548640" cy="254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3977640"/>
            <a:ext cx="2386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Demand-side efficiency menahan pertumbuhan beban puncak &amp; menurunkan emisi sistem.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0264" y="2148840"/>
            <a:ext cx="2679192" cy="3200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70264" y="2148840"/>
            <a:ext cx="2679192" cy="86868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2651760"/>
            <a:ext cx="2679192" cy="36576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24028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Agenda Danantara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3136392"/>
            <a:ext cx="23865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29A4E"/>
                </a:solidFill>
                <a:latin typeface="Calibri"/>
              </a:rPr>
              <a:t>Value &amp; dividen BUMN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6568" y="3840480"/>
            <a:ext cx="548640" cy="254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8" y="3977640"/>
            <a:ext cx="23865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Lini bisnis baru bermargin tinggi, asset-light, scalable secara nasional.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Tunjukkan titik alignment spesifik (kutip bab/pasal RJPP, Renstra, RUPTL). Hindari alignment generik tanpa referensi dokumen.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A  ·  PROBLEM &amp;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Why Now — Timing &amp; Urgensi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6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28800"/>
            <a:ext cx="76200" cy="877824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Trend — Konteks Makro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AI computer-vision &amp; IoT kini matang dan cost-competitive; penetrasi smartphone tinggi; kesadaran efisiensi naik seiring penyesuaian tarif.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12948" y="2706624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" y="2907792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" y="2907792"/>
            <a:ext cx="76200" cy="877824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07792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Trigger — Pemicu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Rollout Smart Meter/AMI PLN; kebijakan efisiensi energi (KEN/PP); tekanan ESG &amp; target NZE; ESCO swasta mulai menyasar pelanggan.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012948" y="3785616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986784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" y="3986784"/>
            <a:ext cx="76200" cy="87782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Window — Peluang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2–3 tahun first-mover sebelum layanan efisiensi pelanggan dikuasai pihak ketiga.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012948" y="4864608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" y="5065776"/>
            <a:ext cx="507492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" y="5065776"/>
            <a:ext cx="76200" cy="877824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65776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Cost of Delay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Erosi potensi revenue Beyond kWh, data pelanggan tak termanfaatkan, churn &amp; keluhan terus berlanjut.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KONVERGENSI YANG MEMBUKA MOMENTUM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103120"/>
            <a:ext cx="566928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97880" y="2103120"/>
            <a:ext cx="76200" cy="8686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2103120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Teknologi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56677"/>
                </a:solidFill>
                <a:latin typeface="Calibri"/>
              </a:rPr>
              <a:t>AI/OCR &amp; sensor IoT murah → audit jadi scalable &amp; low-cost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3081528"/>
            <a:ext cx="566928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97880" y="3081528"/>
            <a:ext cx="76200" cy="8686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3081528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Regulasi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56677"/>
                </a:solidFill>
                <a:latin typeface="Calibri"/>
              </a:rPr>
              <a:t>Agenda efisiensi energi &amp; ESG memberi mandat + insentif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4059936"/>
            <a:ext cx="566928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97880" y="4059936"/>
            <a:ext cx="76200" cy="8686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4059936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Pasar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56677"/>
                </a:solidFill>
                <a:latin typeface="Calibri"/>
              </a:rPr>
              <a:t>Tarif naik + literasi digital → permintaan layanan hemat energi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5038344"/>
            <a:ext cx="566928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97880" y="5038344"/>
            <a:ext cx="76200" cy="8686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5038344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Kompetisi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56677"/>
                </a:solidFill>
                <a:latin typeface="Calibri"/>
              </a:rPr>
              <a:t>First-mover ESCO-platform vs. risiko didahului swasta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Pendekatan Trend → Trigger → Window → Cost of Delay. Sertakan proyeksi 3–5 tahun &amp; sinyal konkret (harga sensor turun, kebijakan baru).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B  ·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Proposed Solution &amp; Value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7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28800"/>
            <a:ext cx="76200" cy="877824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Existing Solution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Audit energi manual oleh konsultan (mahal, lambat); aplikasi hemat listrik generik; tidak terhubung data PLN.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921508" y="2706624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" y="2907792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" y="2907792"/>
            <a:ext cx="76200" cy="877824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07792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Limitations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Biaya tinggi, tidak scalable, akurasi rendah, tanpa kredibilitas &amp; data resmi penyedia listrik.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921508" y="3785616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986784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" y="3986784"/>
            <a:ext cx="76200" cy="87782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Proposed — Ekosistem Envisor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4 layanan terintegrasi: app AI self-audit (OCR), perangkat audit IoT di panel, konsultasi efisiensi industri, marketplace expert.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921508" y="4864608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" y="5065776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" y="5065776"/>
            <a:ext cx="76200" cy="877824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65776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Unique Value Proposition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Satu-satunya yang memadukan AI self-service + IoT + expert bersertifikat + data &amp; brand PLN — terjangkau &amp; scalable.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7830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EMPAT PILAR LAYANAN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2103120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15000" y="2103120"/>
            <a:ext cx="109728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34456" y="2103120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Envisor OCR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Self-audit AI via smartphone: foto meter &amp; perangkat → estimasi konsumsi &amp; rekomendasi hemat otomatis.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3035808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15000" y="3035808"/>
            <a:ext cx="109728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34456" y="3035808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Audit Energi Rumah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Perangkat IoT dipasang di panel: pemantauan konsumsi per-rangkaian real-time + laporan teknisi.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3968496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15000" y="3968496"/>
            <a:ext cx="109728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34456" y="3968496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Envisor Industries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Audit energi &amp; konsultasi efisiensi: power factor/kVARh, harmonisa, load balancing, optimasi kapasitas.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4901184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15000" y="4901184"/>
            <a:ext cx="109728" cy="84124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34456" y="4901184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Envisor Advisor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Marketplace expert energi bersertifikat untuk konsultasi online &amp; pendampingan implementasi.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NOVELTY: (1) AI OCR pengenalan perangkat untuk self-audit massal; (2) model ESCO-as-a-Platform pertama di bawah PLN. Tonjolkan diferensiasi konkret vs existing.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B  ·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How It Works — Customer Journey &amp;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8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83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6EA8"/>
                </a:solidFill>
                <a:latin typeface="Calibri"/>
              </a:rPr>
              <a:t>A · Journey Rumah Tangga (Self-Service → Upsell)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211226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" y="2112264"/>
            <a:ext cx="1965960" cy="310896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2276856"/>
            <a:ext cx="1965960" cy="146304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13055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49631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Unduh &amp; Scan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Foto meter &amp; perangkat di app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60320" y="259232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16352" y="211226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16352" y="2112264"/>
            <a:ext cx="1965960" cy="310896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6352" y="2276856"/>
            <a:ext cx="1965960" cy="146304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213055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249631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AI Analisis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Kenali perangkat &amp; hitung konsumsi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00600" y="259232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56632" y="211226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56632" y="2112264"/>
            <a:ext cx="1965960" cy="310896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56632" y="2276856"/>
            <a:ext cx="1965960" cy="146304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6632" y="213055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249631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Rekomendasi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Saran hemat + estimasi tagihan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40880" y="259232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96912" y="211226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96912" y="2112264"/>
            <a:ext cx="1965960" cy="310896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2276856"/>
            <a:ext cx="1965960" cy="146304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213055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49631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Upsell Audit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Pasang perangkat IoT di panel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281160" y="259232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37192" y="211226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37192" y="2112264"/>
            <a:ext cx="1965960" cy="310896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7192" y="2276856"/>
            <a:ext cx="1965960" cy="146304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7192" y="213055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632" y="249631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Monitoring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Dashboard &amp; laporan berkala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2918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F2742"/>
                </a:solidFill>
                <a:latin typeface="Calibri"/>
              </a:rPr>
              <a:t>B · Journey Industri / Bisnis (High-Value)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" y="362102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6072" y="3621024"/>
            <a:ext cx="1965960" cy="31089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" y="3785616"/>
            <a:ext cx="1965960" cy="14630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6393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400507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Request Audit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Via PLN Mobile / kanal B2B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560320" y="410108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16352" y="362102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816352" y="3621024"/>
            <a:ext cx="1965960" cy="31089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16352" y="3785616"/>
            <a:ext cx="1965960" cy="14630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36393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07792" y="400507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Pasang Analyzer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Power analyzer 7–14 hari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800600" y="410108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56632" y="362102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56632" y="3621024"/>
            <a:ext cx="1965960" cy="31089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6632" y="3785616"/>
            <a:ext cx="1965960" cy="14630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56632" y="36393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48072" y="400507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Analisis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Power factor, kVARh, harmonisa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040880" y="410108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296912" y="362102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296912" y="3621024"/>
            <a:ext cx="1965960" cy="31089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96912" y="3785616"/>
            <a:ext cx="1965960" cy="14630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36393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88352" y="400507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Rekomendasi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Kapasitor/filter + ROI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9281160" y="4101084"/>
            <a:ext cx="237744" cy="182880"/>
          </a:xfrm>
          <a:prstGeom prst="right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37192" y="3621024"/>
            <a:ext cx="1965960" cy="11430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537192" y="3621024"/>
            <a:ext cx="1965960" cy="310896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37192" y="3785616"/>
            <a:ext cx="1965960" cy="14630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37192" y="36393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28632" y="4005072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0F2742"/>
                </a:solidFill>
                <a:latin typeface="Calibri"/>
              </a:rPr>
              <a:t>Implementasi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6677"/>
                </a:solidFill>
                <a:latin typeface="Calibri"/>
              </a:rPr>
              <a:t>Eksekusi + verifikasi hemat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6072" y="4800600"/>
            <a:ext cx="11018520" cy="86868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4901184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29A4E"/>
                </a:solidFill>
                <a:latin typeface="Calibri"/>
              </a:rPr>
              <a:t>TOUCHPOINTS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1760" y="484632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A38"/>
                </a:solidFill>
                <a:latin typeface="Calibri"/>
              </a:rPr>
              <a:t>App Envisor &amp; integrasi PLN Mobile  ·  WhatsApp/Notifikasi  ·  Teknisi lapangan bersertifikat  ·  Dashboard pemantauan  ·  Laporan &amp; rekomendasi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Sertakan mockup/screenshot app &amp; foto perangkat di panel pada submission. Tunjukkan 1 use case pelanggan riil untuk memperkuat kelayakan operasional.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B  ·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Customer Validation &amp; 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9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28800"/>
            <a:ext cx="76200" cy="877824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Hipotesis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(H1) Pelanggan mau membayar untuk visibilitas &amp; penghematan. (H2) Industri bersedia bayar success-fee dari hemat kVARh.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921508" y="2706624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" y="2907792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" y="2907792"/>
            <a:ext cx="76200" cy="877824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07792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Metode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Survei pelanggan (target n≥300), wawancara mendalam 15–20 pelanggan bisnis, pilot terbatas di 2 UP3.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921508" y="3785616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986784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" y="3986784"/>
            <a:ext cx="76200" cy="87782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Hasil (isi data riil)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Conversion app, willingness-to-pay, hemat aktual pilot, NPS. → lengkapi dengan angka hasil lapangan.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921508" y="4864608"/>
            <a:ext cx="201168" cy="201168"/>
          </a:xfrm>
          <a:prstGeom prst="downArrow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" y="5065776"/>
            <a:ext cx="4892040" cy="877824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" y="5065776"/>
            <a:ext cx="76200" cy="877824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65776"/>
            <a:ext cx="45720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Insight → Implikasi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Validasi segmen prioritas &amp; pricing; sempurnakan UVP dan paket layanan berdasar temuan.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7830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TRACTION AWAL &amp; BUKTI YANG DIKUMPULKAN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2103120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15000" y="2103120"/>
            <a:ext cx="76200" cy="841248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103120"/>
            <a:ext cx="5532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Prototipe Produk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App OCR (envisor.vercel.app) &amp; situs ekosistem 4 layanan sudah live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3035808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15000" y="3035808"/>
            <a:ext cx="76200" cy="841248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3035808"/>
            <a:ext cx="5532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Pilot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Rencana 2 UP3 kota besar — isi: jumlah peserta, hemat rata-rata, NPS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3968496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15000" y="3968496"/>
            <a:ext cx="76200" cy="841248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3968496"/>
            <a:ext cx="5532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Komitmen Pasar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Target LOI/MoU pelanggan industri &amp; mitra — lampirkan dokumen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4901184"/>
            <a:ext cx="58521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15000" y="4901184"/>
            <a:ext cx="76200" cy="841248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4901184"/>
            <a:ext cx="5532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Metrik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Sample size, conversion, willingness-to-pay, % penghematan terverifikasi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PENTING: isi dengan data validasi riil milik peserta (angka survei, kutipan responden, foto pilot, LOI/MoU). Jangan sajikan klaim tanpa bukti.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C  ·  MARKET &amp;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Target Market &amp; Customer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10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3584448" cy="33832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28800"/>
            <a:ext cx="3584448" cy="713232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94560"/>
            <a:ext cx="3584448" cy="347472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82880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PRIMER — Rumah Tangga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697480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PERSONA / GOLONGAN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R-1 1.300–2.200 VA · R-2/R-3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538728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PAIN POINT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Tagihan naik tanpa tahu sebab; ingin hemat tapi tak ada alat.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379976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SOLUTION FIT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Self-audit OCR gratis → upsell perangkat audit panel.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828800"/>
            <a:ext cx="3584448" cy="33832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8536" y="1828800"/>
            <a:ext cx="3584448" cy="7132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2194560"/>
            <a:ext cx="3584448" cy="347472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82880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SEKUNDER — UMKM / Bisnis Kecil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697480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PERSONA / GOLONGAN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B-1 / B-2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538728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PAIN POINT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Biaya listrik beban operasional besar; minim literasi efisiensi.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379976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SOLUTION FIT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Audit ringkas + rekomendasi cepat berbayar terjangkau.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828800"/>
            <a:ext cx="3584448" cy="33832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01000" y="1828800"/>
            <a:ext cx="3584448" cy="713232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2194560"/>
            <a:ext cx="3584448" cy="347472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182880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HIGH-VALUE — Industri / Bisnis Besar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697480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PERSONA / GOLONGAN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B-3 · I-3 / I-4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538728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PAIN POINT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Denda kVARh, harmonisa, losses; butuh ROI terukur.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4379976"/>
            <a:ext cx="3255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SOLUTION FIT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Konsultasi efisiensi + success-fee dari penghematan.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5349240"/>
            <a:ext cx="11018520" cy="50292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10789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BEACHHEAD:  pelanggan pascabayar daya besar &amp; industri ber-denda kVARh di kota besar (Jabodetabek, Surabaya, Bandung) — paling siap bayar &amp; ROI tercepat.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C  ·  MARKET &amp;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Market Size — TAM / SAM / SOM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11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874519"/>
            <a:ext cx="1399032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74519"/>
            <a:ext cx="12527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1874519"/>
            <a:ext cx="1119225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6" y="1874519"/>
            <a:ext cx="97292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4329" y="1874519"/>
            <a:ext cx="1119225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7481" y="1874519"/>
            <a:ext cx="97292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3554" y="1874519"/>
            <a:ext cx="1259128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6706" y="1874519"/>
            <a:ext cx="11128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SOM (5 thn)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2682" y="1874519"/>
            <a:ext cx="2098548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5834" y="1874519"/>
            <a:ext cx="19522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Sumber / Asumsi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258567"/>
            <a:ext cx="13990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258567"/>
            <a:ext cx="1252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Rumah Tangga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75104" y="2258567"/>
            <a:ext cx="111922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48256" y="2258567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14,0 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94329" y="2258567"/>
            <a:ext cx="111922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67481" y="2258567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4,2 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3554" y="2258567"/>
            <a:ext cx="12591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6706" y="2258567"/>
            <a:ext cx="1112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0,6 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2682" y="2258567"/>
            <a:ext cx="20985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5834" y="2258567"/>
            <a:ext cx="19522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BPS, statistik PLN; ARPU layanan × pelanggan urban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2825495"/>
            <a:ext cx="1399032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2825495"/>
            <a:ext cx="1252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UMKM / Bisnis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75104" y="2825495"/>
            <a:ext cx="1119225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48256" y="2825495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6,5 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4329" y="2825495"/>
            <a:ext cx="1119225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67481" y="2825495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2,0 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3554" y="2825495"/>
            <a:ext cx="1259128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86706" y="2825495"/>
            <a:ext cx="1112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0,4 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72682" y="2825495"/>
            <a:ext cx="2098548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45834" y="2825495"/>
            <a:ext cx="19522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Jumlah B-1/B-2; tarif audit ringkas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" y="3392423"/>
            <a:ext cx="13990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392423"/>
            <a:ext cx="1252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Industri / Bisnis Besar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75104" y="3392423"/>
            <a:ext cx="111922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48256" y="3392423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7,5 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4329" y="3392423"/>
            <a:ext cx="111922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67481" y="3392423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3,3 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3554" y="3392423"/>
            <a:ext cx="12591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6706" y="3392423"/>
            <a:ext cx="1112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0,8 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2682" y="3392423"/>
            <a:ext cx="20985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45834" y="3392423"/>
            <a:ext cx="19522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Pelanggan B-3/I-3/I-4; nilai denda kVARh &amp; losses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" y="3959351"/>
            <a:ext cx="1399032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" y="3959351"/>
            <a:ext cx="1252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TOTAL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75104" y="3959351"/>
            <a:ext cx="1119225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48256" y="3959351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28,0 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4329" y="3959351"/>
            <a:ext cx="1119225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67481" y="3959351"/>
            <a:ext cx="97292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9,5 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3554" y="3959351"/>
            <a:ext cx="1259128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6706" y="3959351"/>
            <a:ext cx="1112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1,8 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2682" y="3959351"/>
            <a:ext cx="2098548" cy="56692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45834" y="3959351"/>
            <a:ext cx="19522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Top-down + bottom-up (per segmen)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181051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FUNNEL PASAR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8120" y="2148840"/>
            <a:ext cx="3749039" cy="10241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2221992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TAM — Rp 28 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6DEE7"/>
                </a:solidFill>
                <a:latin typeface="Calibri"/>
              </a:rPr>
              <a:t>Total potensi layanan efisiensi energi pelanggan Indonesia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599" y="3282696"/>
            <a:ext cx="2926080" cy="10241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599" y="335584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SAM — Rp 9,5 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6DEE7"/>
                </a:solidFill>
                <a:latin typeface="Calibri"/>
              </a:rPr>
              <a:t>Tercakup model bisnis &amp; jangkauan operasi awal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41079" y="4416552"/>
            <a:ext cx="2103120" cy="1024128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1079" y="4489704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SOM — Rp 1,8 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F2742"/>
                </a:solidFill>
                <a:latin typeface="Calibri"/>
              </a:rPr>
              <a:t>Realistis ditangkap dalam 5 tahun (penetrasi bertahap)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Angka bersifat ILUSTRATIF berbasis asumsi awal — wajib divalidasi &amp; menjadi hasil kerja peserta sebelum submission. Gunakan top-down (sumber: BPS/ESDM/statistik PLN) + bottom-up (ARPU × pelanggan). Penetrasi SOM konservatif (bukan 50% di tahun 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C  ·  MARKET &amp;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Competitor Analysis &amp; Unfair Advantage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12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828800"/>
            <a:ext cx="1913839" cy="4572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28800"/>
            <a:ext cx="1767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FFFF"/>
                </a:solidFill>
                <a:latin typeface="Calibri"/>
              </a:rPr>
              <a:t>Dimensi Nilai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9911" y="1828800"/>
            <a:ext cx="1472184" cy="4572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3063" y="182880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FFFF"/>
                </a:solidFill>
                <a:latin typeface="Calibri"/>
              </a:rPr>
              <a:t>Konsultan/ESCO Swasta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2095" y="1828800"/>
            <a:ext cx="1177747" cy="4572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5247" y="1828800"/>
            <a:ext cx="10314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FFFF"/>
                </a:solidFill>
                <a:latin typeface="Calibri"/>
              </a:rPr>
              <a:t>App Hemat Generik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9842" y="1828800"/>
            <a:ext cx="956919" cy="4572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994" y="1828800"/>
            <a:ext cx="810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FFFF"/>
                </a:solidFill>
                <a:latin typeface="Calibri"/>
              </a:rPr>
              <a:t>"Do Nothing"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761" y="1828800"/>
            <a:ext cx="1840230" cy="4572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9913" y="1828800"/>
            <a:ext cx="16939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FFFF"/>
                </a:solidFill>
                <a:latin typeface="Calibri"/>
              </a:rPr>
              <a:t>ENVISOR (PLN)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286000"/>
            <a:ext cx="191383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286000"/>
            <a:ext cx="1767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Biaya &amp; Aksesibilitas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911" y="2286000"/>
            <a:ext cx="14721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3063" y="228600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Mahal, proyek besar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2095" y="2286000"/>
            <a:ext cx="117774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5247" y="2286000"/>
            <a:ext cx="10314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Murah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9842" y="2286000"/>
            <a:ext cx="9569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994" y="2286000"/>
            <a:ext cx="810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761" y="2286000"/>
            <a:ext cx="184023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9913" y="2286000"/>
            <a:ext cx="16939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Freemium → premium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2743200"/>
            <a:ext cx="1913839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2743200"/>
            <a:ext cx="1767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Akurasi (perangkat/data)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9911" y="2743200"/>
            <a:ext cx="1472184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3063" y="274320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Tinggi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2095" y="2743200"/>
            <a:ext cx="1177747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35247" y="2743200"/>
            <a:ext cx="10314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Rendah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9842" y="2743200"/>
            <a:ext cx="956919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994" y="2743200"/>
            <a:ext cx="810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761" y="2743200"/>
            <a:ext cx="1840230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9913" y="2743200"/>
            <a:ext cx="16939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Tinggi (IoT + data PLN)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" y="3200400"/>
            <a:ext cx="191383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200400"/>
            <a:ext cx="1767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Skalabilitas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9911" y="3200400"/>
            <a:ext cx="14721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3063" y="320040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Rendah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2095" y="3200400"/>
            <a:ext cx="117774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35247" y="3200400"/>
            <a:ext cx="10314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Tinggi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39842" y="3200400"/>
            <a:ext cx="9569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994" y="3200400"/>
            <a:ext cx="810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761" y="3200400"/>
            <a:ext cx="184023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9913" y="3200400"/>
            <a:ext cx="16939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Tinggi (AI self-serve)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" y="3657600"/>
            <a:ext cx="1913839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" y="3657600"/>
            <a:ext cx="1767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Kredibilitas / Trust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89911" y="3657600"/>
            <a:ext cx="1472184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3063" y="365760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Sedang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62095" y="3657600"/>
            <a:ext cx="1177747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35247" y="3657600"/>
            <a:ext cx="10314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Rendah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39842" y="3657600"/>
            <a:ext cx="956919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994" y="3657600"/>
            <a:ext cx="810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761" y="3657600"/>
            <a:ext cx="1840230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9913" y="3657600"/>
            <a:ext cx="16939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Sangat tinggi (PLN)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" y="4114800"/>
            <a:ext cx="191383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" y="4114800"/>
            <a:ext cx="1767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Integrasi Ekosistem PLN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89911" y="4114800"/>
            <a:ext cx="14721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3063" y="411480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Tidak ada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62095" y="4114800"/>
            <a:ext cx="1177747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35247" y="4114800"/>
            <a:ext cx="10314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Tidak ada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39842" y="4114800"/>
            <a:ext cx="95691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12994" y="4114800"/>
            <a:ext cx="8106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761" y="4114800"/>
            <a:ext cx="184023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9913" y="4114800"/>
            <a:ext cx="16939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Penuh (data, kanal, unit)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3879" y="17830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UNFAIR ADVANTAGE PLN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83879" y="2121408"/>
            <a:ext cx="338328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83879" y="2121408"/>
            <a:ext cx="76200" cy="6400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48471" y="212140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Basis &gt;80 juta pelanggan = kanal distribusi instan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83879" y="2834640"/>
            <a:ext cx="338328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183879" y="2834640"/>
            <a:ext cx="76200" cy="6400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48471" y="28346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Data konsumsi &amp; smart meter yang tak dimiliki swasta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3879" y="3547872"/>
            <a:ext cx="338328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183879" y="3547872"/>
            <a:ext cx="76200" cy="6400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48471" y="354787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Brand &amp; trust sebagai penyedia listrik nasional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83879" y="4261104"/>
            <a:ext cx="338328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183879" y="4261104"/>
            <a:ext cx="76200" cy="6400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48471" y="4261104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Akses regulasi &amp; jaringan unit (UP3/ULP) nasional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83879" y="4974336"/>
            <a:ext cx="338328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183879" y="4974336"/>
            <a:ext cx="76200" cy="6400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48471" y="497433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Sinergi PLN Group (Icon+, Haleyora, Enjiniring)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Jujur terhadap kelemahan (mis. agility vs startup). Tonjolkan aset PLN yang sulit ditiru. Selalu ada alternatif — termasuk 'do nothing'.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D  ·  BUSINESS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Business Model &amp; Revenue 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13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REVENUE STREAMS (5)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2084831"/>
            <a:ext cx="5486400" cy="56692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" y="2084831"/>
            <a:ext cx="76200" cy="5669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084831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2742"/>
                </a:solidFill>
                <a:latin typeface="Calibri"/>
              </a:rPr>
              <a:t>1 · Langganan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84831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Freemium → premium (analitik &amp; monitoring) bulanan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" y="2743199"/>
            <a:ext cx="5486400" cy="56692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" y="2743199"/>
            <a:ext cx="76200" cy="5669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74319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2742"/>
                </a:solidFill>
                <a:latin typeface="Calibri"/>
              </a:rPr>
              <a:t>2 · Jasa Audit Perangkat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43199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Biaya pemasangan + langganan monitoring panel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3401567"/>
            <a:ext cx="5486400" cy="56692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3401567"/>
            <a:ext cx="76200" cy="5669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401567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2742"/>
                </a:solidFill>
                <a:latin typeface="Calibri"/>
              </a:rPr>
              <a:t>3 · Konsultasi Industri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401567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Project fee + success-fee % dari penghematan kVARh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4059935"/>
            <a:ext cx="5486400" cy="56692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" y="4059935"/>
            <a:ext cx="76200" cy="5669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059935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2742"/>
                </a:solidFill>
                <a:latin typeface="Calibri"/>
              </a:rPr>
              <a:t>4 · Komisi Marketplace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059935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Take-rate dari sesi Envisor Advisor (expert)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" y="4718303"/>
            <a:ext cx="5486400" cy="56692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" y="4718303"/>
            <a:ext cx="76200" cy="5669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718303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2742"/>
                </a:solidFill>
                <a:latin typeface="Calibri"/>
              </a:rPr>
              <a:t>5 · Solusi &amp; Perangkat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718303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677"/>
                </a:solidFill>
                <a:latin typeface="Calibri"/>
              </a:rPr>
              <a:t>Penjualan/sewa kapasitor, filter, sensor IoT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084831"/>
            <a:ext cx="5212080" cy="114300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2203703"/>
            <a:ext cx="49194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Cost Structure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Fixed: platform/cloud AI, R&amp;D, gaji tim inti, perangkat.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Variable: teknisi lapangan, akuisisi (CAC), komisi, logistik perangkat.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364992"/>
            <a:ext cx="5212080" cy="1143000"/>
          </a:xfrm>
          <a:prstGeom prst="roundRect">
            <a:avLst/>
          </a:prstGeom>
          <a:solidFill>
            <a:srgbClr val="FBF4E6"/>
          </a:solidFill>
          <a:ln w="12700">
            <a:solidFill>
              <a:srgbClr val="D8BE86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4" y="3483864"/>
            <a:ext cx="49194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Unit Economics (ilustratif)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Audit industri: fee Rp 15–40 jt + success-fee 15–25% hemat tahunan.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Rumah: app Rp 0 (free) → premium Rp 25–49 rb/bln; audit panel Rp 0,5–1,2 jt.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645152"/>
            <a:ext cx="5212080" cy="114300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4764024"/>
            <a:ext cx="49194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F2742"/>
                </a:solidFill>
                <a:latin typeface="Calibri"/>
              </a:rPr>
              <a:t>Pricing Strategy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Value-based (porsi dari penghematan) untuk B2B; freemium untuk akuisisi massal B2C.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Bundling dengan tagihan/PLN Mobile menurunkan CAC.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Angka bersifat ILUSTRATIF berbasis asumsi awal — wajib divalidasi &amp; menjadi hasil kerja peserta sebelum submission. Tunjukkan margin per transaksi &amp; justifikasi pricing (bukan cost-plus semata).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D  ·  BUSINESS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Go-to-Market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3584448" cy="32461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28800"/>
            <a:ext cx="3584448" cy="868680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331720"/>
            <a:ext cx="3584448" cy="365760"/>
          </a:xfrm>
          <a:prstGeom prst="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920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 1 · Market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331720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8BE86"/>
                </a:solidFill>
                <a:latin typeface="Calibri"/>
              </a:rPr>
              <a:t>~Tahun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2852928"/>
            <a:ext cx="32552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Aktivitas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50" b="0" i="0">
                <a:solidFill>
                  <a:srgbClr val="1B2A38"/>
                </a:solidFill>
                <a:latin typeface="Calibri"/>
              </a:rPr>
              <a:t>Pilot 2 UP3 kota besar; 10 pelanggan industri pertama; uji app + paket audit.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Channel / Sinergi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Beachhead: industri ber-denda kVARh + early adopters rumah tangga urban.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1828800"/>
            <a:ext cx="3584448" cy="32461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88536" y="1828800"/>
            <a:ext cx="3584448" cy="8686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2331720"/>
            <a:ext cx="3584448" cy="36576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20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 2 ·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331720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8BE86"/>
                </a:solidFill>
                <a:latin typeface="Calibri"/>
              </a:rPr>
              <a:t>~Tahun 2–3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852928"/>
            <a:ext cx="32552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Aktivitas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50" b="0" i="0">
                <a:solidFill>
                  <a:srgbClr val="1B2A38"/>
                </a:solidFill>
                <a:latin typeface="Calibri"/>
              </a:rPr>
              <a:t>Skala ke segmen industri &amp; UMKM; perluas kota; bangun jaringan teknisi &amp; expert.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Channel / Sinergi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Cross-sell PLN Group; bundling layanan; kemitraan vendor.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828800"/>
            <a:ext cx="3584448" cy="32461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1828800"/>
            <a:ext cx="3584448" cy="86868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2331720"/>
            <a:ext cx="3584448" cy="36576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1920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 3 · Scale-Up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2331720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8BE86"/>
                </a:solidFill>
                <a:latin typeface="Calibri"/>
              </a:rPr>
              <a:t>~Tahun 4–5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852928"/>
            <a:ext cx="32552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Aktivitas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50" b="0" i="0">
                <a:solidFill>
                  <a:srgbClr val="1B2A38"/>
                </a:solidFill>
                <a:latin typeface="Calibri"/>
              </a:rPr>
              <a:t>Penetrasi nasional; diversifikasi produk (PLTS, EV, demand response).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C29A4E"/>
                </a:solidFill>
                <a:latin typeface="Calibri"/>
              </a:rPr>
              <a:t>Channel / Sinergi</a:t>
            </a:r>
          </a:p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Platform jadi standar layanan efisiensi pelanggan PLN.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5230368"/>
            <a:ext cx="11018520" cy="566928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30368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CHANNEL UTAMA:  PLN Mobile (integrasi) · tim sales B2B unit · kemitraan vendor · joint-marketing PLN Group · referral. Fokus turunkan CAC via kanal eksisting PLN.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D  ·  BUSINESS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Implementation Roadmap &amp;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15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874519"/>
            <a:ext cx="661111" cy="42062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74519"/>
            <a:ext cx="51480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7183" y="1874519"/>
            <a:ext cx="1101852" cy="42062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0335" y="1874519"/>
            <a:ext cx="9555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Periode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9035" y="1874519"/>
            <a:ext cx="3305556" cy="42062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2187" y="1874519"/>
            <a:ext cx="31592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Aktivitas Utama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44591" y="1874519"/>
            <a:ext cx="2975000" cy="42062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7743" y="1874519"/>
            <a:ext cx="28286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Output (measurable)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9591" y="1874519"/>
            <a:ext cx="1322222" cy="42062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2743" y="1874519"/>
            <a:ext cx="117591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1813" y="1874519"/>
            <a:ext cx="1652778" cy="420624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4965" y="1874519"/>
            <a:ext cx="15064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2295143"/>
            <a:ext cx="661111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295143"/>
            <a:ext cx="5148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F1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7183" y="2295143"/>
            <a:ext cx="11018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0335" y="2295143"/>
            <a:ext cx="9555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Q1–Q2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9035" y="2295143"/>
            <a:ext cx="3305556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12187" y="2295143"/>
            <a:ext cx="31592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MVP app + rekrut tim; siapkan perangkat audit; izin pilot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44591" y="2295143"/>
            <a:ext cx="2975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7743" y="2295143"/>
            <a:ext cx="28286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App rilis; 2 UP3 siap 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19591" y="2295143"/>
            <a:ext cx="132222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92743" y="2295143"/>
            <a:ext cx="117591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Tech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41813" y="2295143"/>
            <a:ext cx="165277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4965" y="2295143"/>
            <a:ext cx="15064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SDM inti, CAPEX awal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2898647"/>
            <a:ext cx="661111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2898647"/>
            <a:ext cx="5148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F2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7183" y="2898647"/>
            <a:ext cx="1101852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0335" y="2898647"/>
            <a:ext cx="9555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Q3–Q4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9035" y="2898647"/>
            <a:ext cx="3305556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12187" y="2898647"/>
            <a:ext cx="31592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Pilot 2 UP3; 10 audit industri; validasi pricing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4591" y="2898647"/>
            <a:ext cx="2975000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7743" y="2898647"/>
            <a:ext cx="28286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≥300 user; 10 LOI; hemat terverifikasi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19591" y="2898647"/>
            <a:ext cx="1322222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92743" y="2898647"/>
            <a:ext cx="117591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Business Lead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41813" y="2898647"/>
            <a:ext cx="1652778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4965" y="2898647"/>
            <a:ext cx="15064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Teknisi, OPEX pilot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" y="3502151"/>
            <a:ext cx="661111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3502151"/>
            <a:ext cx="5148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F3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7183" y="3502151"/>
            <a:ext cx="110185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0335" y="3502151"/>
            <a:ext cx="9555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Y2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9035" y="3502151"/>
            <a:ext cx="3305556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12187" y="3502151"/>
            <a:ext cx="31592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Skala segmen industri &amp; UMKM; jaringan expert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44591" y="3502151"/>
            <a:ext cx="2975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7743" y="3502151"/>
            <a:ext cx="28286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Revenue Rp ; ekspansi 3 kota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19591" y="3502151"/>
            <a:ext cx="132222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92743" y="3502151"/>
            <a:ext cx="117591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BizDev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41813" y="3502151"/>
            <a:ext cx="165277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14965" y="3502151"/>
            <a:ext cx="15064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Sales, marketing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" y="4105655"/>
            <a:ext cx="661111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" y="4105655"/>
            <a:ext cx="5148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F4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7183" y="4105655"/>
            <a:ext cx="1101852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10335" y="4105655"/>
            <a:ext cx="9555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Y3–Y5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9035" y="4105655"/>
            <a:ext cx="3305556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12187" y="4105655"/>
            <a:ext cx="31592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Scale nasional + diversifikasi produk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44591" y="4105655"/>
            <a:ext cx="2975000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7743" y="4105655"/>
            <a:ext cx="28286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EBITDA positif; SOM tercapai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19591" y="4105655"/>
            <a:ext cx="1322222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92743" y="4105655"/>
            <a:ext cx="117591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COO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41813" y="4105655"/>
            <a:ext cx="1652778" cy="603504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14965" y="4105655"/>
            <a:ext cx="15064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Scale-up CAPEX/OPEX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6072" y="5394960"/>
            <a:ext cx="11018520" cy="457200"/>
          </a:xfrm>
          <a:prstGeom prst="round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539496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A6D2E"/>
                </a:solidFill>
                <a:latin typeface="Calibri"/>
              </a:rPr>
              <a:t>GO / NO-GO milestones:  (1) hasil pilot positif (hemat &amp; WTP terbukti)  ·  (2) ≥10 LOI industri  ·  (3) unit economics teruji sebelum scale-up.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D  ·  BUSINESS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Resources, Partnership &amp;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16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28800"/>
            <a:ext cx="3520440" cy="324612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947672"/>
            <a:ext cx="3227832" cy="3026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Internal PLN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Data konsumsi &amp; smart meter/AMI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Basis &gt;80 jt pelanggan &amp; PLN Mobile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Jaringan unit UP3/ULP nasional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Brand &amp; kredibilitas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SDM teknik &amp; energi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828800"/>
            <a:ext cx="3520440" cy="3246120"/>
          </a:xfrm>
          <a:prstGeom prst="roundRect">
            <a:avLst/>
          </a:prstGeom>
          <a:solidFill>
            <a:srgbClr val="FBF4E6"/>
          </a:solidFill>
          <a:ln w="12700">
            <a:solidFill>
              <a:srgbClr val="D8BE86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947672"/>
            <a:ext cx="3227832" cy="3026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Partner Eksternal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Vendor sensor IoT &amp; cloud AI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Produsen kapasitor / filter harmonisa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Lembaga sertifikasi (BNSP)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Penyedia pembayaran / fintech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Status: existing › MoU › planned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1828800"/>
            <a:ext cx="3721608" cy="324612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7" y="1947672"/>
            <a:ext cx="3429000" cy="3026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Ekosistem &amp; Sinergi Group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Icon+ — platform digital &amp; konektivitas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Haleyora Power — teknisi lapangan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PLN Enjiniring — engineering audit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Regulator ESDM &amp; asosiasi (MASKEEI/APKLINDO)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556677"/>
                </a:solidFill>
                <a:latin typeface="Calibri"/>
              </a:rPr>
              <a:t>Akademisi untuk R&amp;D &amp; sertifikasi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Sebutkan nama partner + peran + status kerjasama. Visualisasikan peta ekosistem (produsen → platform → pelanggan → regulator) pada submission.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E  ·  VALUE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Financial Projections &amp; Business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17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874519"/>
            <a:ext cx="2340864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74519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Indikator (Rp Miliar)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6936" y="1874519"/>
            <a:ext cx="994867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1874519"/>
            <a:ext cx="8485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Y1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1803" y="1874519"/>
            <a:ext cx="994867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955" y="1874519"/>
            <a:ext cx="8485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Y2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6670" y="1874519"/>
            <a:ext cx="994867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9822" y="1874519"/>
            <a:ext cx="8485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Y3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1537" y="1874519"/>
            <a:ext cx="994867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4689" y="1874519"/>
            <a:ext cx="8485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Y4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96404" y="1874519"/>
            <a:ext cx="994867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9556" y="1874519"/>
            <a:ext cx="8485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Y5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2258567"/>
            <a:ext cx="23408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258567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Calibri"/>
              </a:rPr>
              <a:t>Revenue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16936" y="2258567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2258567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11803" y="2258567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4955" y="2258567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6670" y="2258567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9822" y="2258567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120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1537" y="2258567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74689" y="2258567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205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96404" y="2258567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9556" y="2258567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310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2734055"/>
            <a:ext cx="2340864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2734055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Calibri"/>
              </a:rPr>
              <a:t>Cost (CAPEX+OPEX)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16936" y="2734055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8" y="2734055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1803" y="2734055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84955" y="2734055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6670" y="2734055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79822" y="2734055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108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1537" y="2734055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4689" y="2734055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165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96404" y="2734055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9556" y="2734055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232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" y="3209543"/>
            <a:ext cx="234086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3209543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Calibri"/>
              </a:rPr>
              <a:t>EBITDA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16936" y="3209543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8" y="3209543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(23)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11803" y="3209543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84955" y="3209543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(7)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06670" y="3209543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79822" y="3209543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01537" y="3209543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74689" y="3209543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96404" y="3209543"/>
            <a:ext cx="994867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9556" y="3209543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78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" y="3685031"/>
            <a:ext cx="2340864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" y="3685031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Calibri"/>
              </a:rPr>
              <a:t>EBITDA Margin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16936" y="3685031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0088" y="3685031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neg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11803" y="3685031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84955" y="3685031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neg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06670" y="3685031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79822" y="3685031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10%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01537" y="3685031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74689" y="3685031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20%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96404" y="3685031"/>
            <a:ext cx="994867" cy="475488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69556" y="3685031"/>
            <a:ext cx="8485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B2A38"/>
                </a:solidFill>
                <a:latin typeface="Calibri"/>
              </a:rPr>
              <a:t>25%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181051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INDIKATOR KELAYAKAN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60" y="2121408"/>
            <a:ext cx="1645920" cy="91440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0" y="2267712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29A4E"/>
                </a:solidFill>
                <a:latin typeface="Calibri"/>
              </a:rPr>
              <a:t>~31%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FD9E3"/>
                </a:solidFill>
                <a:latin typeface="Calibri"/>
              </a:rPr>
              <a:t>IRR (5 thn)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21240" y="2121408"/>
            <a:ext cx="1645920" cy="91440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12680" y="2267712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29A4E"/>
                </a:solidFill>
                <a:latin typeface="Calibri"/>
              </a:rPr>
              <a:t>~3,2 thn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FD9E3"/>
                </a:solidFill>
                <a:latin typeface="Calibri"/>
              </a:rPr>
              <a:t>Payback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8160" y="3200400"/>
            <a:ext cx="1645920" cy="91440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0" y="3346704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29A4E"/>
                </a:solidFill>
                <a:latin typeface="Calibri"/>
              </a:rPr>
              <a:t>Rp ~95 M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FD9E3"/>
                </a:solidFill>
                <a:latin typeface="Calibri"/>
              </a:rPr>
              <a:t>NPV @12%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21240" y="3200400"/>
            <a:ext cx="1645920" cy="91440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12680" y="3346704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D8BE86"/>
                </a:solidFill>
                <a:latin typeface="Calibri"/>
              </a:rPr>
              <a:t>Rp 60 M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FD9E3"/>
                </a:solidFill>
                <a:latin typeface="Calibri"/>
              </a:rPr>
              <a:t>Investasi awal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" y="4709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29A4E"/>
                </a:solidFill>
                <a:latin typeface="Calibri"/>
              </a:rPr>
              <a:t>SENSITIVITY (NPV)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" y="4983480"/>
            <a:ext cx="1463040" cy="29260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224" y="4983480"/>
            <a:ext cx="13167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Skenario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39112" y="4983480"/>
            <a:ext cx="4023360" cy="29260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12264" y="4983480"/>
            <a:ext cx="387705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Asumsi kunci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62472" y="4983480"/>
            <a:ext cx="1828800" cy="29260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5624" y="4983480"/>
            <a:ext cx="16824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NPV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6072" y="527608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9224" y="5276088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Best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39112" y="5276088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12264" y="5276088"/>
            <a:ext cx="38770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Adopsi +20%, CAC -15%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62472" y="5276088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276088"/>
            <a:ext cx="1682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~150 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76072" y="5550408"/>
            <a:ext cx="1463040" cy="27432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9224" y="5550408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Base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39112" y="5550408"/>
            <a:ext cx="4023360" cy="27432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12264" y="5550408"/>
            <a:ext cx="38770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Asumsi dasar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62472" y="5550408"/>
            <a:ext cx="1828800" cy="27432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5624" y="5550408"/>
            <a:ext cx="1682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~95 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6072" y="582472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9224" y="5824728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2A38"/>
                </a:solidFill>
                <a:latin typeface="Calibri"/>
              </a:rPr>
              <a:t>Worst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39112" y="5824728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12264" y="5824728"/>
            <a:ext cx="38770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Adopsi -25%, CAC +20%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62472" y="5824728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35624" y="5824728"/>
            <a:ext cx="1682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Rp ~20 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Angka bersifat ILUSTRATIF berbasis asumsi awal — wajib divalidasi &amp; menjadi hasil kerja peserta sebelum submission. Buat model bottom-up (volume × harga × growth) dengan asumsi transparan; hindari proyeksi hockey-stick.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E  ·  VALUE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Strategic Impact (Non-Financial Value)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18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874519"/>
            <a:ext cx="5440680" cy="1783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" y="1874519"/>
            <a:ext cx="128016" cy="1783080"/>
          </a:xfrm>
          <a:prstGeom prst="roundRect">
            <a:avLst/>
          </a:prstGeom>
          <a:solidFill>
            <a:srgbClr val="12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020823"/>
            <a:ext cx="5029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2742"/>
                </a:solidFill>
                <a:latin typeface="Calibri"/>
              </a:rPr>
              <a:t>Brand &amp; Reputasi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PLN sebagai pionir layanan Beyond kWh &amp; energy partner.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A4E"/>
                </a:solidFill>
                <a:latin typeface="Calibri"/>
              </a:rPr>
              <a:t>Indikator: media coverage, awards inovasi, top-of-mind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874519"/>
            <a:ext cx="5440680" cy="1783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874519"/>
            <a:ext cx="128016" cy="1783080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20823"/>
            <a:ext cx="5029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2742"/>
                </a:solidFill>
                <a:latin typeface="Calibri"/>
              </a:rPr>
              <a:t>ESG &amp; Lingkungan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Efisiensi sisi-demand menurunkan emisi &amp; beban puncak.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A4E"/>
                </a:solidFill>
                <a:latin typeface="Calibri"/>
              </a:rPr>
              <a:t>Indikator: ton CO₂ dihindari/thn, kWh dihemat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822191"/>
            <a:ext cx="5440680" cy="1783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" y="3822191"/>
            <a:ext cx="128016" cy="178308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968495"/>
            <a:ext cx="5029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2742"/>
                </a:solidFill>
                <a:latin typeface="Calibri"/>
              </a:rPr>
              <a:t>Posisi Strategis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First-mover ESCO-platform; dukungan NZE 2060 &amp; RUPTL.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A4E"/>
                </a:solidFill>
                <a:latin typeface="Calibri"/>
              </a:rPr>
              <a:t>Indikator: pangsa layanan efisiensi, kemitraan strategis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822191"/>
            <a:ext cx="5440680" cy="1783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3912" y="3822191"/>
            <a:ext cx="128016" cy="1783080"/>
          </a:xfrm>
          <a:prstGeom prst="round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3968495"/>
            <a:ext cx="5029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2742"/>
                </a:solidFill>
                <a:latin typeface="Calibri"/>
              </a:rPr>
              <a:t>Capability Building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Upskill SDM, IP/algoritma, data pelanggan, posisi regulasi.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A4E"/>
                </a:solidFill>
                <a:latin typeface="Calibri"/>
              </a:rPr>
              <a:t>Indikator: SDM tersertifikasi, paten/IP, 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Kuantifikasi dampak (ton CO₂, kWh dihemat, jumlah SDM upskill) &amp; kaitkan dengan Misi PLN / Moonshot / NZE 2060. Hindari klaim ESG tanpa angka.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E  ·  VALUE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Risk, Mitigation &amp;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19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828800"/>
            <a:ext cx="384048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28800"/>
            <a:ext cx="2377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828800"/>
            <a:ext cx="2611526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28800"/>
            <a:ext cx="246522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Risiko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71646" y="1828800"/>
            <a:ext cx="614476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4798" y="1828800"/>
            <a:ext cx="4681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6122" y="1828800"/>
            <a:ext cx="614476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9274" y="1828800"/>
            <a:ext cx="4681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598" y="1828800"/>
            <a:ext cx="3456432" cy="384048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0" y="1828800"/>
            <a:ext cx="33101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Mitigasi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212848"/>
            <a:ext cx="3840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212848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R1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2212848"/>
            <a:ext cx="261152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2212848"/>
            <a:ext cx="246522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Adopsi pelanggan lambat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71646" y="2212848"/>
            <a:ext cx="6144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4798" y="221284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6122" y="2212848"/>
            <a:ext cx="6144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9274" y="221284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598" y="2212848"/>
            <a:ext cx="34564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0" y="2212848"/>
            <a:ext cx="33101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Freemium + bundling PLN Mobile; pilot bukti hemat; edukasi.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2761488"/>
            <a:ext cx="384048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2761488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R2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2761488"/>
            <a:ext cx="2611526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2761488"/>
            <a:ext cx="246522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Privasi &amp; keamanan data (UU PDP)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71646" y="2761488"/>
            <a:ext cx="614476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44798" y="276148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86122" y="2761488"/>
            <a:ext cx="614476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9274" y="276148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598" y="2761488"/>
            <a:ext cx="3456432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0" y="2761488"/>
            <a:ext cx="33101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Kepatuhan UU PDP; consent; enkripsi; data anonim untuk analitik.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" y="3310128"/>
            <a:ext cx="3840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310128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R3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3310128"/>
            <a:ext cx="261152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" y="3310128"/>
            <a:ext cx="246522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Akurasi AI/perangkat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71646" y="3310128"/>
            <a:ext cx="6144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44798" y="331012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6122" y="3310128"/>
            <a:ext cx="6144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9274" y="331012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598" y="3310128"/>
            <a:ext cx="34564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3750" y="3310128"/>
            <a:ext cx="33101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Kalibrasi; validasi teknisi; continuous learning model.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" y="3858768"/>
            <a:ext cx="384048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" y="3858768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R4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3858768"/>
            <a:ext cx="2611526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2" y="3858768"/>
            <a:ext cx="246522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Perubahan regulasi tarif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71646" y="3858768"/>
            <a:ext cx="614476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44798" y="385876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86122" y="3858768"/>
            <a:ext cx="614476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9274" y="385876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00598" y="3858768"/>
            <a:ext cx="3456432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73750" y="3858768"/>
            <a:ext cx="33101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Model value-based (success-fee) tahan terhadap perubahan tarif.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" y="4407408"/>
            <a:ext cx="3840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" y="4407408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38"/>
                </a:solidFill>
                <a:latin typeface="Calibri"/>
              </a:rPr>
              <a:t>R5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" y="4407408"/>
            <a:ext cx="261152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3272" y="4407408"/>
            <a:ext cx="246522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Kanibalisasi / konflik internal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71646" y="4407408"/>
            <a:ext cx="6144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44798" y="440740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86122" y="4407408"/>
            <a:ext cx="6144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9274" y="4407408"/>
            <a:ext cx="4681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00598" y="4407408"/>
            <a:ext cx="34564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73750" y="4407408"/>
            <a:ext cx="33101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A38"/>
                </a:solidFill>
                <a:latin typeface="Calibri"/>
              </a:rPr>
              <a:t>Posisikan sebagai layanan komplementer Beyond kWh, bukan kWh.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49640" y="1828800"/>
            <a:ext cx="3017520" cy="3291840"/>
          </a:xfrm>
          <a:prstGeom prst="roundRect">
            <a:avLst/>
          </a:prstGeom>
          <a:solidFill>
            <a:srgbClr val="FBF4E6"/>
          </a:solidFill>
          <a:ln w="12700">
            <a:solidFill>
              <a:srgbClr val="D8BE86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95944" y="1947672"/>
            <a:ext cx="2724912" cy="3072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F2742"/>
                </a:solidFill>
                <a:latin typeface="Calibri"/>
              </a:rPr>
              <a:t>Legal &amp; Compliance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KBLI: 71102 (jasa konsultansi rekayasa), 74909, 35122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Sertifikasi: BNSP teknisi, SLO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UU PDP — perlindungan data pelanggan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GCG &amp; tata kelola PLN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56677"/>
                </a:solidFill>
                <a:latin typeface="Calibri"/>
              </a:rPr>
              <a:t>SMAP ISO 37001 (anti-penyuapan)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Fokus 3–5 risiko terbesar dengan mitigasi spesifik &amp; actionable. Sebutkan KBLI/sertifikasi relevan (verifikasi nomor KBLI terkini).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F  ·  TEAM &amp;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Tim Inovasi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56677"/>
                </a:solidFill>
                <a:latin typeface="Calibri"/>
              </a:rPr>
              <a:t>Kombinasi komplementer: Bisnis &amp; Energi × Power System × Digital/IoT.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20 /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1965960"/>
            <a:ext cx="3584448" cy="37947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as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112264"/>
            <a:ext cx="1217003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4832" y="2148840"/>
            <a:ext cx="19385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Qashtalani Haramaini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29A4E"/>
                </a:solidFill>
                <a:latin typeface="Calibri"/>
              </a:rPr>
              <a:t>Business &amp; Energy Lead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" y="3749040"/>
            <a:ext cx="3255264" cy="1905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886200"/>
            <a:ext cx="32552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C29A4E"/>
                </a:solidFill>
                <a:latin typeface="Calibri"/>
              </a:rPr>
              <a:t>LATAR BELAKANG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>
                <a:solidFill>
                  <a:srgbClr val="1B2A38"/>
                </a:solidFill>
                <a:latin typeface="Calibri"/>
              </a:rPr>
              <a:t>Dr. Teknik Elektro UI · M.Eng (Australian Awards). PLN Unit Manager, alumni ENGIE.</a:t>
            </a:r>
          </a:p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C29A4E"/>
                </a:solidFill>
                <a:latin typeface="Calibri"/>
              </a:rPr>
              <a:t>PERAN DALAM TIM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Strategi bisnis, energy &amp; power system, kebijakan energi.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1965960"/>
            <a:ext cx="3584448" cy="37947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12264"/>
            <a:ext cx="1193769" cy="1463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97296" y="2148840"/>
            <a:ext cx="19385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Dino Arla, S.T., M.T.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29A4E"/>
                </a:solidFill>
                <a:latin typeface="Calibri"/>
              </a:rPr>
              <a:t>Tech / Power System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8" y="3749040"/>
            <a:ext cx="3255264" cy="1905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886200"/>
            <a:ext cx="32552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C29A4E"/>
                </a:solidFill>
                <a:latin typeface="Calibri"/>
              </a:rPr>
              <a:t>LATAR BELAKANG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>
                <a:solidFill>
                  <a:srgbClr val="1B2A38"/>
                </a:solidFill>
                <a:latin typeface="Calibri"/>
              </a:rPr>
              <a:t>PII · PUIL Certified · veteran PLN Pusat. Spesialis distribusi tegangan menengah.</a:t>
            </a:r>
          </a:p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C29A4E"/>
                </a:solidFill>
                <a:latin typeface="Calibri"/>
              </a:rPr>
              <a:t>PERAN DALAM TIM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Arsitektur teknis audit, power quality, kelayakan solusi.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965960"/>
            <a:ext cx="3584448" cy="37947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  <a:effectLst>
            <a:outerShdw blurRad="90000" dist="38100" dir="5400000" rotWithShape="0">
              <a:srgbClr val="1B2A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idi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112264"/>
            <a:ext cx="1338903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9760" y="2148840"/>
            <a:ext cx="19385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742"/>
                </a:solidFill>
                <a:latin typeface="Calibri"/>
              </a:rPr>
              <a:t>Sidik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29A4E"/>
                </a:solidFill>
                <a:latin typeface="Calibri"/>
              </a:rPr>
              <a:t>IoT, Robotics &amp; Gamification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65592" y="3749040"/>
            <a:ext cx="3255264" cy="1905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3886200"/>
            <a:ext cx="32552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C29A4E"/>
                </a:solidFill>
                <a:latin typeface="Calibri"/>
              </a:rPr>
              <a:t>LATAR BELAKANG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>
                <a:solidFill>
                  <a:srgbClr val="1B2A38"/>
                </a:solidFill>
                <a:latin typeface="Calibri"/>
              </a:rPr>
              <a:t>Pakar Internet of Things, robotika &amp; gamifikasi untuk solusi energi pintar.</a:t>
            </a:r>
          </a:p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C29A4E"/>
                </a:solidFill>
                <a:latin typeface="Calibri"/>
              </a:rPr>
              <a:t>PERAN DALAM TIM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B2A38"/>
                </a:solidFill>
                <a:latin typeface="Calibri"/>
              </a:rPr>
              <a:t>Perangkat IoT, otomasi, UX gamifikasi &amp; adopsi produk.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50" cy="109728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2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0"/>
            <a:ext cx="38100" cy="6858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SECTION F  ·  TEAM &amp;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8686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Closing / Call to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481328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7315200" cy="786384"/>
          </a:xfrm>
          <a:prstGeom prst="roundRect">
            <a:avLst/>
          </a:prstGeom>
          <a:solidFill>
            <a:srgbClr val="14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83080"/>
            <a:ext cx="1737360" cy="78638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F2742"/>
                </a:solidFill>
                <a:latin typeface="Calibri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83080"/>
            <a:ext cx="5212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10–30% biaya listrik terbuang &amp; denda kVARh — tanpa layanan efisiensi resmi PLN.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60904"/>
            <a:ext cx="7315200" cy="786384"/>
          </a:xfrm>
          <a:prstGeom prst="roundRect">
            <a:avLst/>
          </a:prstGeom>
          <a:solidFill>
            <a:srgbClr val="14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660904"/>
            <a:ext cx="1737360" cy="78638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60904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F2742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60904"/>
            <a:ext cx="5212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Ekosistem Envisor: AI self-audit + perangkat IoT + konsultasi + expert, di atas data &amp; brand PLN.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38728"/>
            <a:ext cx="7315200" cy="786384"/>
          </a:xfrm>
          <a:prstGeom prst="roundRect">
            <a:avLst/>
          </a:prstGeom>
          <a:solidFill>
            <a:srgbClr val="14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538728"/>
            <a:ext cx="1737360" cy="786384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38728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F2742"/>
                </a:solidFill>
                <a:latin typeface="Calibri"/>
              </a:rP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538728"/>
            <a:ext cx="5212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SOM Rp 1,8 T; IRR ~31%; Payback ~3,2 thn; + dampak ESG &amp; posisi first-mover (ilustratif).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8BE86"/>
                </a:solidFill>
                <a:latin typeface="Calibri"/>
              </a:rPr>
              <a:t>WHY NOW:  konvergensi AI/IoT, rollout smart meter &amp; momentum NZE — window 2–3 tahun.</a:t>
            </a:r>
          </a:p>
          <a:p>
            <a:pPr algn="l"/>
            <a:r>
              <a:rPr sz="1100" b="1" i="0">
                <a:solidFill>
                  <a:srgbClr val="D8BE86"/>
                </a:solidFill>
                <a:latin typeface="Calibri"/>
              </a:rPr>
              <a:t>WHY US:  tim komplementer Energi × Power System × IoT dengan jejak PLN &amp; ENGIE.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783080"/>
            <a:ext cx="3200400" cy="2743200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938528"/>
            <a:ext cx="28803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THE ASK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2742"/>
                </a:solidFill>
                <a:latin typeface="Calibri"/>
              </a:rPr>
              <a:t>Dukungan panel untuk: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F2742"/>
                </a:solidFill>
                <a:latin typeface="Calibri"/>
              </a:rPr>
              <a:t>• Sponsor pilot di 2 UP3 terpilih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F2742"/>
                </a:solidFill>
                <a:latin typeface="Calibri"/>
              </a:rPr>
              <a:t>• Akses data &amp; smart meter</a:t>
            </a:r>
          </a:p>
          <a:p>
            <a:pPr algn="l"/>
            <a:r>
              <a:rPr sz="1050" b="1" i="0">
                <a:solidFill>
                  <a:srgbClr val="0F2742"/>
                </a:solidFill>
                <a:latin typeface="Calibri"/>
              </a:rPr>
              <a:t>• Lanjut ke bootcamp IG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40680"/>
            <a:ext cx="10972800" cy="640080"/>
          </a:xfrm>
          <a:prstGeom prst="roundRect">
            <a:avLst/>
          </a:prstGeom>
          <a:solidFill>
            <a:srgbClr val="14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“Setiap kWh yang dihemat pelanggan, nilai baru bagi PLN.”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FAEBE"/>
                </a:solidFill>
                <a:latin typeface="Calibri"/>
              </a:rPr>
              <a:t>Tim Envisor  ·  hello@envisorai.com  ·  www.pln.co.id     |     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5240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4E"/>
                </a:solidFill>
                <a:latin typeface="Calibri"/>
              </a:rPr>
              <a:t>LAMPIRAN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2742"/>
                </a:solidFill>
                <a:latin typeface="Calibri"/>
              </a:rPr>
              <a:t>Appendix — Detail Pendukung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35024"/>
            <a:ext cx="822960" cy="38100"/>
          </a:xfrm>
          <a:prstGeom prst="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56677"/>
                </a:solidFill>
                <a:latin typeface="Calibri"/>
              </a:rPr>
              <a:t>Tidak dipresentasikan default — digunakan saat sesi Q&amp;A.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37376"/>
            <a:ext cx="11064240" cy="1270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56677"/>
                </a:solidFill>
                <a:latin typeface="Calibri"/>
              </a:rPr>
              <a:t>ENVISOR  ·  Innovation Gateway 2026  ·  Next-Gen Business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56677"/>
                </a:solidFill>
                <a:latin typeface="Calibri"/>
              </a:rPr>
              <a:t>www.pln.co.id     |     22 /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1965960"/>
            <a:ext cx="5440680" cy="117043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" y="1965960"/>
            <a:ext cx="76200" cy="11704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93976"/>
            <a:ext cx="50749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Model Finansial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Spreadsheet proyeksi 5 thn: asumsi volume, harga, growth, CAPEX/OPEX, NPV/IRR/Payback.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965960"/>
            <a:ext cx="5440680" cy="117043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912" y="1965960"/>
            <a:ext cx="76200" cy="11704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93976"/>
            <a:ext cx="50749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Data Validasi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Hasil survei (n, kuesioner), transkrip wawancara, hasil pilot, LOI/MoU, foto lapangan.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3282696"/>
            <a:ext cx="5440680" cy="117043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282696"/>
            <a:ext cx="76200" cy="11704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10712"/>
            <a:ext cx="50749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Perhitungan Pasar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Rincian TAM/SAM/SOM per segmen (top-down + bottom-up) beserta sumber.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3282696"/>
            <a:ext cx="5440680" cy="117043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53912" y="3282696"/>
            <a:ext cx="76200" cy="11704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410712"/>
            <a:ext cx="50749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Referensi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BPS, IEA, RUPTL, Kementerian ESDM, statistik &amp; data internal PLN, RJPP/Renstra.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4599432"/>
            <a:ext cx="5440680" cy="117043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" y="4599432"/>
            <a:ext cx="76200" cy="11704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27448"/>
            <a:ext cx="50749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Spesifikasi Teknis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Arsitektur app &amp; AI OCR, spesifikasi perangkat audit IoT, alur data &amp; keamanan (UU PDP).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4599432"/>
            <a:ext cx="5440680" cy="117043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A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53912" y="4599432"/>
            <a:ext cx="76200" cy="1170432"/>
          </a:xfrm>
          <a:prstGeom prst="roundRect">
            <a:avLst/>
          </a:prstGeom>
          <a:solidFill>
            <a:srgbClr val="C2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27448"/>
            <a:ext cx="50749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2742"/>
                </a:solidFill>
                <a:latin typeface="Calibri"/>
              </a:rPr>
              <a:t>Legal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7"/>
                </a:solidFill>
                <a:latin typeface="Calibri"/>
              </a:rPr>
              <a:t>Detail KBLI, perizinan, sertifikasi, dan kerangka compliance (GCG, SMAP ISO 37001).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" y="5989320"/>
            <a:ext cx="11018520" cy="310896"/>
          </a:xfrm>
          <a:prstGeom prst="rect">
            <a:avLst/>
          </a:prstGeom>
          <a:solidFill>
            <a:srgbClr val="FBF4E6"/>
          </a:solidFill>
          <a:ln w="9525">
            <a:solidFill>
              <a:srgbClr val="D8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007607"/>
            <a:ext cx="10789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6D2E"/>
                </a:solidFill>
                <a:latin typeface="Calibri"/>
              </a:rPr>
              <a:t>Angka bersifat ILUSTRATIF berbasis asumsi awal — wajib divalidasi &amp; menjadi hasil kerja peserta sebelum submission. Lampirkan bukti &amp; perhitungan rinci sebagai hasil kerja peserta.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